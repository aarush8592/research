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74" r:id="rId3"/>
    <p:sldId id="257" r:id="rId4"/>
    <p:sldId id="258" r:id="rId5"/>
    <p:sldId id="268" r:id="rId6"/>
    <p:sldId id="270" r:id="rId7"/>
    <p:sldId id="259" r:id="rId8"/>
    <p:sldId id="271" r:id="rId9"/>
    <p:sldId id="260" r:id="rId10"/>
    <p:sldId id="269" r:id="rId11"/>
    <p:sldId id="272" r:id="rId12"/>
    <p:sldId id="264" r:id="rId13"/>
  </p:sldIdLst>
  <p:sldSz cx="9753600" cy="7315200"/>
  <p:notesSz cx="9753600" cy="7315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gTxnPD+aw2LrBypMl/CD7XQzvf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627"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0" name="Google Shape;50;p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0" y="549275"/>
            <a:ext cx="3657600" cy="27432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294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9ac019662_0_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9ac019662_0_1:notes"/>
          <p:cNvSpPr txBox="1">
            <a:spLocks noGrp="1"/>
          </p:cNvSpPr>
          <p:nvPr>
            <p:ph type="body" idx="1"/>
          </p:nvPr>
        </p:nvSpPr>
        <p:spPr>
          <a:xfrm>
            <a:off x="975350" y="3474700"/>
            <a:ext cx="7803000" cy="329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7: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20"/>
        <p:cNvGrpSpPr/>
        <p:nvPr/>
      </p:nvGrpSpPr>
      <p:grpSpPr>
        <a:xfrm>
          <a:off x="0" y="0"/>
          <a:ext cx="0" cy="0"/>
          <a:chOff x="0" y="0"/>
          <a:chExt cx="0" cy="0"/>
        </a:xfrm>
      </p:grpSpPr>
      <p:sp>
        <p:nvSpPr>
          <p:cNvPr id="21" name="Google Shape;21;p9"/>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10</a:t>
            </a:r>
            <a:endParaRPr/>
          </a:p>
        </p:txBody>
      </p:sp>
      <p:sp>
        <p:nvSpPr>
          <p:cNvPr id="22" name="Google Shape;22;p9"/>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6" name="Google Shape;26;p10"/>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27" name="Google Shape;27;p10"/>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10</a:t>
            </a:r>
            <a:endParaRPr/>
          </a:p>
        </p:txBody>
      </p:sp>
      <p:sp>
        <p:nvSpPr>
          <p:cNvPr id="28" name="Google Shape;28;p10"/>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1"/>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11"/>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10</a:t>
            </a:r>
            <a:endParaRPr/>
          </a:p>
        </p:txBody>
      </p:sp>
      <p:sp>
        <p:nvSpPr>
          <p:cNvPr id="33" name="Google Shape;33;p11"/>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sp>
        <p:nvSpPr>
          <p:cNvPr id="36" name="Google Shape;36;p12"/>
          <p:cNvSpPr txBox="1">
            <a:spLocks noGrp="1"/>
          </p:cNvSpPr>
          <p:nvPr>
            <p:ph type="ctrTitle"/>
          </p:nvPr>
        </p:nvSpPr>
        <p:spPr>
          <a:xfrm>
            <a:off x="731520" y="2267712"/>
            <a:ext cx="8290560" cy="15361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7" name="Google Shape;37;p12"/>
          <p:cNvSpPr txBox="1">
            <a:spLocks noGrp="1"/>
          </p:cNvSpPr>
          <p:nvPr>
            <p:ph type="subTitle" idx="1"/>
          </p:nvPr>
        </p:nvSpPr>
        <p:spPr>
          <a:xfrm>
            <a:off x="1463040" y="4096512"/>
            <a:ext cx="6827520" cy="182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subtitle style</a:t>
            </a:r>
            <a:endParaRPr/>
          </a:p>
        </p:txBody>
      </p:sp>
      <p:sp>
        <p:nvSpPr>
          <p:cNvPr id="38" name="Google Shape;38;p12"/>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10</a:t>
            </a:r>
            <a:endParaRPr/>
          </a:p>
        </p:txBody>
      </p:sp>
      <p:sp>
        <p:nvSpPr>
          <p:cNvPr id="39" name="Google Shape;39;p12"/>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2"/>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3" name="Google Shape;43;p13"/>
          <p:cNvSpPr txBox="1">
            <a:spLocks noGrp="1"/>
          </p:cNvSpPr>
          <p:nvPr>
            <p:ph type="body" idx="1"/>
          </p:nvPr>
        </p:nvSpPr>
        <p:spPr>
          <a:xfrm>
            <a:off x="487680"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4" name="Google Shape;44;p13"/>
          <p:cNvSpPr txBox="1">
            <a:spLocks noGrp="1"/>
          </p:cNvSpPr>
          <p:nvPr>
            <p:ph type="body" idx="2"/>
          </p:nvPr>
        </p:nvSpPr>
        <p:spPr>
          <a:xfrm>
            <a:off x="5023104" y="1682496"/>
            <a:ext cx="4242816" cy="482803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pPr lvl="0"/>
            <a:r>
              <a:rPr lang="en-US"/>
              <a:t>Click to edit Master text styles</a:t>
            </a:r>
          </a:p>
        </p:txBody>
      </p:sp>
      <p:sp>
        <p:nvSpPr>
          <p:cNvPr id="45" name="Google Shape;45;p13"/>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10</a:t>
            </a:r>
            <a:endParaRPr/>
          </a:p>
        </p:txBody>
      </p:sp>
      <p:sp>
        <p:nvSpPr>
          <p:cNvPr id="46" name="Google Shape;46;p13"/>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p:nvPr/>
        </p:nvSpPr>
        <p:spPr>
          <a:xfrm>
            <a:off x="0" y="0"/>
            <a:ext cx="9752965" cy="894080"/>
          </a:xfrm>
          <a:custGeom>
            <a:avLst/>
            <a:gdLst/>
            <a:ahLst/>
            <a:cxnLst/>
            <a:rect l="l" t="t" r="r" b="b"/>
            <a:pathLst>
              <a:path w="9752965" h="894080" extrusionOk="0">
                <a:moveTo>
                  <a:pt x="9752456" y="893567"/>
                </a:moveTo>
                <a:lnTo>
                  <a:pt x="0" y="893567"/>
                </a:lnTo>
                <a:lnTo>
                  <a:pt x="0" y="0"/>
                </a:lnTo>
                <a:lnTo>
                  <a:pt x="9752456" y="0"/>
                </a:lnTo>
                <a:lnTo>
                  <a:pt x="9752456"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 name="Google Shape;7;p8"/>
          <p:cNvSpPr/>
          <p:nvPr/>
        </p:nvSpPr>
        <p:spPr>
          <a:xfrm>
            <a:off x="0" y="7151615"/>
            <a:ext cx="9753600" cy="163830"/>
          </a:xfrm>
          <a:custGeom>
            <a:avLst/>
            <a:gdLst/>
            <a:ahLst/>
            <a:cxnLst/>
            <a:rect l="l" t="t" r="r" b="b"/>
            <a:pathLst>
              <a:path w="9753600" h="163829" extrusionOk="0">
                <a:moveTo>
                  <a:pt x="9753218" y="163584"/>
                </a:moveTo>
                <a:lnTo>
                  <a:pt x="0" y="163584"/>
                </a:lnTo>
                <a:lnTo>
                  <a:pt x="0" y="0"/>
                </a:lnTo>
                <a:lnTo>
                  <a:pt x="9753218" y="0"/>
                </a:lnTo>
                <a:lnTo>
                  <a:pt x="9753218" y="163584"/>
                </a:lnTo>
                <a:close/>
              </a:path>
            </a:pathLst>
          </a:custGeom>
          <a:solidFill>
            <a:srgbClr val="FF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8" name="Google Shape;8;p8"/>
          <p:cNvPicPr preferRelativeResize="0"/>
          <p:nvPr/>
        </p:nvPicPr>
        <p:blipFill rotWithShape="1">
          <a:blip r:embed="rId7">
            <a:alphaModFix/>
          </a:blip>
          <a:srcRect/>
          <a:stretch/>
        </p:blipFill>
        <p:spPr>
          <a:xfrm>
            <a:off x="6989951" y="243840"/>
            <a:ext cx="2190749" cy="676274"/>
          </a:xfrm>
          <a:prstGeom prst="rect">
            <a:avLst/>
          </a:prstGeom>
          <a:noFill/>
          <a:ln>
            <a:noFill/>
          </a:ln>
        </p:spPr>
      </p:pic>
      <p:pic>
        <p:nvPicPr>
          <p:cNvPr id="9" name="Google Shape;9;p8"/>
          <p:cNvPicPr preferRelativeResize="0"/>
          <p:nvPr/>
        </p:nvPicPr>
        <p:blipFill rotWithShape="1">
          <a:blip r:embed="rId8">
            <a:alphaModFix/>
          </a:blip>
          <a:srcRect/>
          <a:stretch/>
        </p:blipFill>
        <p:spPr>
          <a:xfrm>
            <a:off x="6989951" y="243840"/>
            <a:ext cx="2047874" cy="647623"/>
          </a:xfrm>
          <a:prstGeom prst="rect">
            <a:avLst/>
          </a:prstGeom>
          <a:noFill/>
          <a:ln>
            <a:noFill/>
          </a:ln>
        </p:spPr>
      </p:pic>
      <p:pic>
        <p:nvPicPr>
          <p:cNvPr id="10" name="Google Shape;10;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1" name="Google Shape;11;p8"/>
          <p:cNvSpPr/>
          <p:nvPr/>
        </p:nvSpPr>
        <p:spPr>
          <a:xfrm>
            <a:off x="6556416" y="0"/>
            <a:ext cx="3197860" cy="894080"/>
          </a:xfrm>
          <a:custGeom>
            <a:avLst/>
            <a:gdLst/>
            <a:ahLst/>
            <a:cxnLst/>
            <a:rect l="l" t="t" r="r" b="b"/>
            <a:pathLst>
              <a:path w="3197859" h="894080" extrusionOk="0">
                <a:moveTo>
                  <a:pt x="3197297" y="893567"/>
                </a:moveTo>
                <a:lnTo>
                  <a:pt x="0" y="893567"/>
                </a:lnTo>
                <a:lnTo>
                  <a:pt x="0" y="0"/>
                </a:lnTo>
                <a:lnTo>
                  <a:pt x="3197297" y="0"/>
                </a:lnTo>
                <a:lnTo>
                  <a:pt x="3197297" y="893567"/>
                </a:lnTo>
                <a:close/>
              </a:path>
            </a:pathLst>
          </a:custGeom>
          <a:solidFill>
            <a:srgbClr val="FF33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2" name="Google Shape;12;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3" name="Google Shape;13;p8"/>
          <p:cNvSpPr/>
          <p:nvPr/>
        </p:nvSpPr>
        <p:spPr>
          <a:xfrm>
            <a:off x="6963071" y="203136"/>
            <a:ext cx="2213610" cy="731520"/>
          </a:xfrm>
          <a:custGeom>
            <a:avLst/>
            <a:gdLst/>
            <a:ahLst/>
            <a:cxnLst/>
            <a:rect l="l" t="t" r="r" b="b"/>
            <a:pathLst>
              <a:path w="2213609" h="731519" extrusionOk="0">
                <a:moveTo>
                  <a:pt x="2213399" y="731135"/>
                </a:moveTo>
                <a:lnTo>
                  <a:pt x="0" y="731135"/>
                </a:lnTo>
                <a:lnTo>
                  <a:pt x="0" y="0"/>
                </a:lnTo>
                <a:lnTo>
                  <a:pt x="2213399" y="0"/>
                </a:lnTo>
                <a:lnTo>
                  <a:pt x="2213399" y="731135"/>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4" name="Google Shape;14;p8"/>
          <p:cNvPicPr preferRelativeResize="0"/>
          <p:nvPr/>
        </p:nvPicPr>
        <p:blipFill rotWithShape="1">
          <a:blip r:embed="rId8">
            <a:alphaModFix/>
          </a:blip>
          <a:srcRect/>
          <a:stretch/>
        </p:blipFill>
        <p:spPr>
          <a:xfrm>
            <a:off x="6989951" y="243840"/>
            <a:ext cx="2047874" cy="647623"/>
          </a:xfrm>
          <a:prstGeom prst="rect">
            <a:avLst/>
          </a:prstGeom>
          <a:noFill/>
          <a:ln>
            <a:noFill/>
          </a:ln>
        </p:spPr>
      </p:pic>
      <p:sp>
        <p:nvSpPr>
          <p:cNvPr id="15" name="Google Shape;15;p8"/>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4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8"/>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7" name="Google Shape;17;p8"/>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10</a:t>
            </a:r>
            <a:endParaRPr/>
          </a:p>
        </p:txBody>
      </p:sp>
      <p:sp>
        <p:nvSpPr>
          <p:cNvPr id="18" name="Google Shape;18;p8"/>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8"/>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p:nvPr/>
        </p:nvSpPr>
        <p:spPr>
          <a:xfrm>
            <a:off x="267856" y="1152575"/>
            <a:ext cx="9023290" cy="4628752"/>
          </a:xfrm>
          <a:prstGeom prst="rect">
            <a:avLst/>
          </a:prstGeom>
          <a:noFill/>
          <a:ln>
            <a:noFill/>
          </a:ln>
        </p:spPr>
        <p:txBody>
          <a:bodyPr spcFirstLastPara="1" wrap="square" lIns="0" tIns="15225" rIns="0" bIns="0" anchor="t" anchorCtr="0">
            <a:spAutoFit/>
          </a:bodyPr>
          <a:lstStyle/>
          <a:p>
            <a:pPr algn="ctr">
              <a:lnSpc>
                <a:spcPct val="119736"/>
              </a:lnSpc>
            </a:pPr>
            <a:r>
              <a:rPr lang="en-US" sz="3000" b="1" dirty="0">
                <a:latin typeface="Times New Roman" panose="02020603050405020304" pitchFamily="18" charset="0"/>
                <a:cs typeface="Times New Roman" panose="02020603050405020304" pitchFamily="18" charset="0"/>
              </a:rPr>
              <a:t>A Comparative AI-based Framework of Standardizing School Infrastructure in India Using Global Benchmarking</a:t>
            </a:r>
          </a:p>
          <a:p>
            <a:pPr algn="ctr">
              <a:lnSpc>
                <a:spcPct val="119736"/>
              </a:lnSpc>
            </a:pPr>
            <a:endParaRPr lang="en-US" sz="3200" b="1" dirty="0">
              <a:latin typeface="Times New Roman" panose="02020603050405020304" pitchFamily="18" charset="0"/>
              <a:ea typeface="Times New Roman"/>
              <a:cs typeface="Times New Roman" panose="02020603050405020304" pitchFamily="18" charset="0"/>
              <a:sym typeface="Times New Roman"/>
            </a:endParaRPr>
          </a:p>
          <a:p>
            <a:pPr algn="ctr">
              <a:lnSpc>
                <a:spcPct val="119736"/>
              </a:lnSpc>
            </a:pPr>
            <a:endParaRPr lang="en-US" sz="3200" b="1"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IN" sz="2100"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endParaRPr lang="en-IN" sz="2100" dirty="0">
              <a:latin typeface="Times New Roman" panose="02020603050405020304" pitchFamily="18" charset="0"/>
              <a:ea typeface="Times New Roman"/>
              <a:cs typeface="Times New Roman" panose="02020603050405020304" pitchFamily="18" charset="0"/>
              <a:sym typeface="Times New Roman"/>
            </a:endParaRPr>
          </a:p>
          <a:p>
            <a:pPr lvl="0" algn="ctr">
              <a:lnSpc>
                <a:spcPct val="119736"/>
              </a:lnSpc>
            </a:pPr>
            <a:r>
              <a:rPr lang="en-IN" sz="2100" dirty="0">
                <a:latin typeface="Times New Roman" panose="02020603050405020304" pitchFamily="18" charset="0"/>
                <a:ea typeface="Times New Roman"/>
                <a:cs typeface="Times New Roman" panose="02020603050405020304" pitchFamily="18" charset="0"/>
                <a:sym typeface="Times New Roman"/>
              </a:rPr>
              <a:t> </a:t>
            </a:r>
            <a:endParaRPr sz="2100" dirty="0">
              <a:latin typeface="Times New Roman" panose="02020603050405020304" pitchFamily="18" charset="0"/>
              <a:ea typeface="Times New Roman"/>
              <a:cs typeface="Times New Roman" panose="02020603050405020304" pitchFamily="18" charset="0"/>
              <a:sym typeface="Times New Roman"/>
            </a:endParaRPr>
          </a:p>
          <a:p>
            <a:pPr marL="2734945" marR="2727325" lvl="0" indent="0" algn="ctr" rtl="0">
              <a:lnSpc>
                <a:spcPct val="101200"/>
              </a:lnSpc>
              <a:spcBef>
                <a:spcPts val="5"/>
              </a:spcBef>
              <a:spcAft>
                <a:spcPts val="0"/>
              </a:spcAft>
              <a:buNone/>
            </a:pPr>
            <a:r>
              <a:rPr lang="en-US" sz="2100" dirty="0">
                <a:latin typeface="Times New Roman" panose="02020603050405020304" pitchFamily="18" charset="0"/>
                <a:ea typeface="Times New Roman"/>
                <a:cs typeface="Times New Roman" panose="02020603050405020304" pitchFamily="18" charset="0"/>
                <a:sym typeface="Times New Roman"/>
              </a:rPr>
              <a:t>Supervised By </a:t>
            </a:r>
            <a:endParaRPr sz="2100" dirty="0">
              <a:latin typeface="Times New Roman" panose="02020603050405020304" pitchFamily="18" charset="0"/>
              <a:ea typeface="Times New Roman"/>
              <a:cs typeface="Times New Roman" panose="02020603050405020304" pitchFamily="18" charset="0"/>
              <a:sym typeface="Times New Roman"/>
            </a:endParaRPr>
          </a:p>
          <a:p>
            <a:pPr marL="2734945" marR="2727325" lvl="0" algn="ctr">
              <a:lnSpc>
                <a:spcPct val="101200"/>
              </a:lnSpc>
              <a:spcBef>
                <a:spcPts val="5"/>
              </a:spcBef>
            </a:pPr>
            <a:r>
              <a:rPr lang="en-IN" sz="1800" dirty="0" err="1">
                <a:latin typeface="Times New Roman" panose="02020603050405020304" pitchFamily="18" charset="0"/>
                <a:cs typeface="Times New Roman" panose="02020603050405020304" pitchFamily="18" charset="0"/>
              </a:rPr>
              <a:t>Dr.Preeti</a:t>
            </a:r>
            <a:r>
              <a:rPr lang="en-IN" sz="1800" dirty="0">
                <a:latin typeface="Times New Roman" panose="02020603050405020304" pitchFamily="18" charset="0"/>
                <a:cs typeface="Times New Roman" panose="02020603050405020304" pitchFamily="18" charset="0"/>
              </a:rPr>
              <a:t> Saini, </a:t>
            </a:r>
            <a:r>
              <a:rPr lang="en-IN" sz="1800" dirty="0" err="1">
                <a:latin typeface="Times New Roman" panose="02020603050405020304" pitchFamily="18" charset="0"/>
                <a:cs typeface="Times New Roman" panose="02020603050405020304" pitchFamily="18" charset="0"/>
              </a:rPr>
              <a:t>Dr.</a:t>
            </a:r>
            <a:r>
              <a:rPr lang="en-IN" sz="1800" dirty="0">
                <a:latin typeface="Times New Roman" panose="02020603050405020304" pitchFamily="18" charset="0"/>
                <a:cs typeface="Times New Roman" panose="02020603050405020304" pitchFamily="18" charset="0"/>
              </a:rPr>
              <a:t> Gurpreet Singh</a:t>
            </a: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53" name="Google Shape;53;p1"/>
          <p:cNvSpPr txBox="1"/>
          <p:nvPr/>
        </p:nvSpPr>
        <p:spPr>
          <a:xfrm>
            <a:off x="1284545" y="6091004"/>
            <a:ext cx="7103745" cy="796925"/>
          </a:xfrm>
          <a:prstGeom prst="rect">
            <a:avLst/>
          </a:prstGeom>
          <a:noFill/>
          <a:ln>
            <a:noFill/>
          </a:ln>
        </p:spPr>
        <p:txBody>
          <a:bodyPr spcFirstLastPara="1" wrap="square" lIns="0" tIns="33000" rIns="0" bIns="0" anchor="t" anchorCtr="0">
            <a:spAutoFit/>
          </a:bodyPr>
          <a:lstStyle/>
          <a:p>
            <a:pPr marL="1631950" marR="5080" lvl="0" indent="-1619885" algn="l" rtl="0">
              <a:lnSpc>
                <a:spcPct val="117647"/>
              </a:lnSpc>
              <a:spcBef>
                <a:spcPts val="0"/>
              </a:spcBef>
              <a:spcAft>
                <a:spcPts val="0"/>
              </a:spcAft>
              <a:buNone/>
            </a:pPr>
            <a:r>
              <a:rPr lang="en-US" sz="2550" dirty="0">
                <a:latin typeface="Times New Roman"/>
                <a:ea typeface="Times New Roman"/>
                <a:cs typeface="Times New Roman"/>
                <a:sym typeface="Times New Roman"/>
              </a:rPr>
              <a:t>Department of Computer Science and Engineering, Chitkara University, Punjab</a:t>
            </a:r>
            <a:endParaRPr sz="2550" dirty="0">
              <a:latin typeface="Times New Roman"/>
              <a:ea typeface="Times New Roman"/>
              <a:cs typeface="Times New Roman"/>
              <a:sym typeface="Times New Roman"/>
            </a:endParaRPr>
          </a:p>
        </p:txBody>
      </p:sp>
      <p:sp>
        <p:nvSpPr>
          <p:cNvPr id="4" name="TextBox 3"/>
          <p:cNvSpPr txBox="1"/>
          <p:nvPr/>
        </p:nvSpPr>
        <p:spPr>
          <a:xfrm>
            <a:off x="2985134" y="3093755"/>
            <a:ext cx="3409908" cy="1323439"/>
          </a:xfrm>
          <a:prstGeom prst="rect">
            <a:avLst/>
          </a:prstGeom>
          <a:noFill/>
        </p:spPr>
        <p:txBody>
          <a:bodyPr wrap="none">
            <a:spAutoFit/>
          </a:bodyPr>
          <a:lstStyle/>
          <a:p>
            <a:pPr algn="ctr">
              <a:defRPr sz="2000"/>
            </a:pPr>
            <a:r>
              <a:rPr lang="en-IN" dirty="0">
                <a:latin typeface="Times New Roman" panose="02020603050405020304" pitchFamily="18" charset="0"/>
                <a:cs typeface="Times New Roman" panose="02020603050405020304" pitchFamily="18" charset="0"/>
              </a:rPr>
              <a:t>Sahil Sikri-</a:t>
            </a:r>
            <a:r>
              <a:rPr lang="en-US" sz="2000" dirty="0">
                <a:latin typeface="Times New Roman" panose="02020603050405020304" pitchFamily="18" charset="0"/>
                <a:cs typeface="Times New Roman" panose="02020603050405020304" pitchFamily="18" charset="0"/>
              </a:rPr>
              <a:t>2210990758</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Arush Arora -</a:t>
            </a:r>
            <a:r>
              <a:rPr lang="en-US" sz="2000" dirty="0">
                <a:latin typeface="Times New Roman" panose="02020603050405020304" pitchFamily="18" charset="0"/>
                <a:cs typeface="Times New Roman" panose="02020603050405020304" pitchFamily="18" charset="0"/>
              </a:rPr>
              <a:t>2210991117</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Yukti – 2210990988</a:t>
            </a:r>
          </a:p>
          <a:p>
            <a:pPr algn="ctr">
              <a:defRPr sz="2000"/>
            </a:pPr>
            <a:r>
              <a:rPr lang="en-IN" dirty="0">
                <a:latin typeface="Times New Roman" panose="02020603050405020304" pitchFamily="18" charset="0"/>
                <a:cs typeface="Times New Roman" panose="02020603050405020304" pitchFamily="18" charset="0"/>
              </a:rPr>
              <a:t>Abhinandan Jain -</a:t>
            </a:r>
            <a:r>
              <a:rPr lang="en-US" sz="2000" dirty="0">
                <a:latin typeface="Times New Roman" panose="02020603050405020304" pitchFamily="18" charset="0"/>
                <a:cs typeface="Times New Roman" panose="02020603050405020304" pitchFamily="18" charset="0"/>
              </a:rPr>
              <a:t>2210990035</a:t>
            </a:r>
            <a:r>
              <a:rPr lang="en-IN"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7FE0-3A0F-B4A6-5CE3-4E4EB784F310}"/>
              </a:ext>
            </a:extLst>
          </p:cNvPr>
          <p:cNvSpPr>
            <a:spLocks noGrp="1"/>
          </p:cNvSpPr>
          <p:nvPr>
            <p:ph type="title"/>
          </p:nvPr>
        </p:nvSpPr>
        <p:spPr>
          <a:xfrm>
            <a:off x="93203" y="88356"/>
            <a:ext cx="3569335" cy="523220"/>
          </a:xfrm>
        </p:spPr>
        <p:txBody>
          <a:bodyPr/>
          <a:lstStyle/>
          <a:p>
            <a:r>
              <a:rPr lang="en-US" dirty="0"/>
              <a:t>Table of Content</a:t>
            </a:r>
          </a:p>
        </p:txBody>
      </p:sp>
      <p:graphicFrame>
        <p:nvGraphicFramePr>
          <p:cNvPr id="4" name="Table 3">
            <a:extLst>
              <a:ext uri="{FF2B5EF4-FFF2-40B4-BE49-F238E27FC236}">
                <a16:creationId xmlns:a16="http://schemas.microsoft.com/office/drawing/2014/main" id="{088005BA-847C-3D3C-F965-2D4D1D3F147E}"/>
              </a:ext>
            </a:extLst>
          </p:cNvPr>
          <p:cNvGraphicFramePr>
            <a:graphicFrameLocks noGrp="1"/>
          </p:cNvGraphicFramePr>
          <p:nvPr>
            <p:extLst>
              <p:ext uri="{D42A27DB-BD31-4B8C-83A1-F6EECF244321}">
                <p14:modId xmlns:p14="http://schemas.microsoft.com/office/powerpoint/2010/main" val="1072237559"/>
              </p:ext>
            </p:extLst>
          </p:nvPr>
        </p:nvGraphicFramePr>
        <p:xfrm>
          <a:off x="1310290" y="1332478"/>
          <a:ext cx="6502400" cy="385572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3782691535"/>
                    </a:ext>
                  </a:extLst>
                </a:gridCol>
                <a:gridCol w="3251200">
                  <a:extLst>
                    <a:ext uri="{9D8B030D-6E8A-4147-A177-3AD203B41FA5}">
                      <a16:colId xmlns:a16="http://schemas.microsoft.com/office/drawing/2014/main" val="1017348017"/>
                    </a:ext>
                  </a:extLst>
                </a:gridCol>
              </a:tblGrid>
              <a:tr h="370840">
                <a:tc>
                  <a:txBody>
                    <a:bodyPr/>
                    <a:lstStyle/>
                    <a:p>
                      <a:r>
                        <a:rPr lang="en-US" dirty="0"/>
                        <a:t>TOPICS</a:t>
                      </a:r>
                    </a:p>
                  </a:txBody>
                  <a:tcPr/>
                </a:tc>
                <a:tc>
                  <a:txBody>
                    <a:bodyPr/>
                    <a:lstStyle/>
                    <a:p>
                      <a:r>
                        <a:rPr lang="en-US" dirty="0"/>
                        <a:t>PAGE NO.</a:t>
                      </a:r>
                    </a:p>
                  </a:txBody>
                  <a:tcPr/>
                </a:tc>
                <a:extLst>
                  <a:ext uri="{0D108BD9-81ED-4DB2-BD59-A6C34878D82A}">
                    <a16:rowId xmlns:a16="http://schemas.microsoft.com/office/drawing/2014/main" val="1951316628"/>
                  </a:ext>
                </a:extLst>
              </a:tr>
              <a:tr h="370840">
                <a:tc>
                  <a:txBody>
                    <a:bodyPr/>
                    <a:lstStyle/>
                    <a:p>
                      <a:r>
                        <a:rPr lang="en-US" dirty="0"/>
                        <a:t>INTRODUCTION</a:t>
                      </a:r>
                    </a:p>
                  </a:txBody>
                  <a:tcPr/>
                </a:tc>
                <a:tc>
                  <a:txBody>
                    <a:bodyPr/>
                    <a:lstStyle/>
                    <a:p>
                      <a:r>
                        <a:rPr lang="en-US" dirty="0"/>
                        <a:t>2</a:t>
                      </a:r>
                    </a:p>
                  </a:txBody>
                  <a:tcPr/>
                </a:tc>
                <a:extLst>
                  <a:ext uri="{0D108BD9-81ED-4DB2-BD59-A6C34878D82A}">
                    <a16:rowId xmlns:a16="http://schemas.microsoft.com/office/drawing/2014/main" val="317839010"/>
                  </a:ext>
                </a:extLst>
              </a:tr>
              <a:tr h="370840">
                <a:tc>
                  <a:txBody>
                    <a:bodyPr/>
                    <a:lstStyle/>
                    <a:p>
                      <a:r>
                        <a:rPr lang="en-US" dirty="0"/>
                        <a:t>PROBLEM STATEMENT</a:t>
                      </a:r>
                    </a:p>
                  </a:txBody>
                  <a:tcPr/>
                </a:tc>
                <a:tc>
                  <a:txBody>
                    <a:bodyPr/>
                    <a:lstStyle/>
                    <a:p>
                      <a:r>
                        <a:rPr lang="en-US" dirty="0"/>
                        <a:t>3</a:t>
                      </a:r>
                    </a:p>
                  </a:txBody>
                  <a:tcPr/>
                </a:tc>
                <a:extLst>
                  <a:ext uri="{0D108BD9-81ED-4DB2-BD59-A6C34878D82A}">
                    <a16:rowId xmlns:a16="http://schemas.microsoft.com/office/drawing/2014/main" val="2970130168"/>
                  </a:ext>
                </a:extLst>
              </a:tr>
              <a:tr h="370840">
                <a:tc>
                  <a:txBody>
                    <a:bodyPr/>
                    <a:lstStyle/>
                    <a:p>
                      <a:r>
                        <a:rPr lang="en-US" dirty="0"/>
                        <a:t>OBJECTIVE</a:t>
                      </a:r>
                    </a:p>
                  </a:txBody>
                  <a:tcPr/>
                </a:tc>
                <a:tc>
                  <a:txBody>
                    <a:bodyPr/>
                    <a:lstStyle/>
                    <a:p>
                      <a:r>
                        <a:rPr lang="en-US" dirty="0"/>
                        <a:t>4</a:t>
                      </a:r>
                    </a:p>
                  </a:txBody>
                  <a:tcPr/>
                </a:tc>
                <a:extLst>
                  <a:ext uri="{0D108BD9-81ED-4DB2-BD59-A6C34878D82A}">
                    <a16:rowId xmlns:a16="http://schemas.microsoft.com/office/drawing/2014/main" val="3498537723"/>
                  </a:ext>
                </a:extLst>
              </a:tr>
              <a:tr h="370840">
                <a:tc>
                  <a:txBody>
                    <a:bodyPr/>
                    <a:lstStyle/>
                    <a:p>
                      <a:r>
                        <a:rPr lang="en-US" dirty="0"/>
                        <a:t>LITERATURE REVIEW</a:t>
                      </a:r>
                    </a:p>
                  </a:txBody>
                  <a:tcPr/>
                </a:tc>
                <a:tc>
                  <a:txBody>
                    <a:bodyPr/>
                    <a:lstStyle/>
                    <a:p>
                      <a:r>
                        <a:rPr lang="en-US" dirty="0"/>
                        <a:t>5</a:t>
                      </a:r>
                    </a:p>
                  </a:txBody>
                  <a:tcPr/>
                </a:tc>
                <a:extLst>
                  <a:ext uri="{0D108BD9-81ED-4DB2-BD59-A6C34878D82A}">
                    <a16:rowId xmlns:a16="http://schemas.microsoft.com/office/drawing/2014/main" val="2215758564"/>
                  </a:ext>
                </a:extLst>
              </a:tr>
              <a:tr h="370840">
                <a:tc>
                  <a:txBody>
                    <a:bodyPr/>
                    <a:lstStyle/>
                    <a:p>
                      <a:r>
                        <a:rPr lang="en-US" dirty="0"/>
                        <a:t>METHODOLOGY</a:t>
                      </a:r>
                    </a:p>
                  </a:txBody>
                  <a:tcPr/>
                </a:tc>
                <a:tc>
                  <a:txBody>
                    <a:bodyPr/>
                    <a:lstStyle/>
                    <a:p>
                      <a:r>
                        <a:rPr lang="en-US" dirty="0"/>
                        <a:t>6</a:t>
                      </a:r>
                    </a:p>
                  </a:txBody>
                  <a:tcPr/>
                </a:tc>
                <a:extLst>
                  <a:ext uri="{0D108BD9-81ED-4DB2-BD59-A6C34878D82A}">
                    <a16:rowId xmlns:a16="http://schemas.microsoft.com/office/drawing/2014/main" val="2127981108"/>
                  </a:ext>
                </a:extLst>
              </a:tr>
              <a:tr h="370840">
                <a:tc>
                  <a:txBody>
                    <a:bodyPr/>
                    <a:lstStyle/>
                    <a:p>
                      <a:r>
                        <a:rPr lang="en-US" dirty="0"/>
                        <a:t>MODEL USED AND INTERPRETATION</a:t>
                      </a:r>
                    </a:p>
                  </a:txBody>
                  <a:tcPr/>
                </a:tc>
                <a:tc>
                  <a:txBody>
                    <a:bodyPr/>
                    <a:lstStyle/>
                    <a:p>
                      <a:r>
                        <a:rPr lang="en-US" dirty="0"/>
                        <a:t>7</a:t>
                      </a:r>
                    </a:p>
                  </a:txBody>
                  <a:tcPr/>
                </a:tc>
                <a:extLst>
                  <a:ext uri="{0D108BD9-81ED-4DB2-BD59-A6C34878D82A}">
                    <a16:rowId xmlns:a16="http://schemas.microsoft.com/office/drawing/2014/main" val="2011738795"/>
                  </a:ext>
                </a:extLst>
              </a:tr>
              <a:tr h="370840">
                <a:tc>
                  <a:txBody>
                    <a:bodyPr/>
                    <a:lstStyle/>
                    <a:p>
                      <a:r>
                        <a:rPr lang="en-US" dirty="0"/>
                        <a:t>RESULT AND DISCUSSION</a:t>
                      </a:r>
                    </a:p>
                  </a:txBody>
                  <a:tcPr/>
                </a:tc>
                <a:tc>
                  <a:txBody>
                    <a:bodyPr/>
                    <a:lstStyle/>
                    <a:p>
                      <a:r>
                        <a:rPr lang="en-US" dirty="0"/>
                        <a:t>8</a:t>
                      </a:r>
                    </a:p>
                  </a:txBody>
                  <a:tcPr/>
                </a:tc>
                <a:extLst>
                  <a:ext uri="{0D108BD9-81ED-4DB2-BD59-A6C34878D82A}">
                    <a16:rowId xmlns:a16="http://schemas.microsoft.com/office/drawing/2014/main" val="822845145"/>
                  </a:ext>
                </a:extLst>
              </a:tr>
              <a:tr h="370840">
                <a:tc>
                  <a:txBody>
                    <a:bodyPr/>
                    <a:lstStyle/>
                    <a:p>
                      <a:r>
                        <a:rPr lang="en-US" dirty="0"/>
                        <a:t>CONCLUSION AND FUTURE WORK</a:t>
                      </a:r>
                    </a:p>
                  </a:txBody>
                  <a:tcPr/>
                </a:tc>
                <a:tc>
                  <a:txBody>
                    <a:bodyPr/>
                    <a:lstStyle/>
                    <a:p>
                      <a:r>
                        <a:rPr lang="en-US" dirty="0"/>
                        <a:t>9</a:t>
                      </a:r>
                    </a:p>
                  </a:txBody>
                  <a:tcPr/>
                </a:tc>
                <a:extLst>
                  <a:ext uri="{0D108BD9-81ED-4DB2-BD59-A6C34878D82A}">
                    <a16:rowId xmlns:a16="http://schemas.microsoft.com/office/drawing/2014/main" val="3583951216"/>
                  </a:ext>
                </a:extLst>
              </a:tr>
              <a:tr h="370840">
                <a:tc>
                  <a:txBody>
                    <a:bodyPr/>
                    <a:lstStyle/>
                    <a:p>
                      <a:r>
                        <a:rPr lang="en-US" dirty="0"/>
                        <a:t>REFERENCES</a:t>
                      </a:r>
                    </a:p>
                  </a:txBody>
                  <a:tcPr/>
                </a:tc>
                <a:tc>
                  <a:txBody>
                    <a:bodyPr/>
                    <a:lstStyle/>
                    <a:p>
                      <a:r>
                        <a:rPr lang="en-US" dirty="0"/>
                        <a:t>10</a:t>
                      </a:r>
                    </a:p>
                  </a:txBody>
                  <a:tcPr/>
                </a:tc>
                <a:extLst>
                  <a:ext uri="{0D108BD9-81ED-4DB2-BD59-A6C34878D82A}">
                    <a16:rowId xmlns:a16="http://schemas.microsoft.com/office/drawing/2014/main" val="1908183567"/>
                  </a:ext>
                </a:extLst>
              </a:tr>
            </a:tbl>
          </a:graphicData>
        </a:graphic>
      </p:graphicFrame>
      <p:sp>
        <p:nvSpPr>
          <p:cNvPr id="6" name="Footer Placeholder 5">
            <a:extLst>
              <a:ext uri="{FF2B5EF4-FFF2-40B4-BE49-F238E27FC236}">
                <a16:creationId xmlns:a16="http://schemas.microsoft.com/office/drawing/2014/main" id="{5B22727C-6397-B110-3168-72D0EFD672A9}"/>
              </a:ext>
            </a:extLst>
          </p:cNvPr>
          <p:cNvSpPr>
            <a:spLocks noGrp="1"/>
          </p:cNvSpPr>
          <p:nvPr>
            <p:ph type="ftr" idx="11"/>
          </p:nvPr>
        </p:nvSpPr>
        <p:spPr>
          <a:xfrm>
            <a:off x="8828689" y="6758152"/>
            <a:ext cx="463780" cy="192360"/>
          </a:xfrm>
        </p:spPr>
        <p:txBody>
          <a:bodyPr/>
          <a:lstStyle/>
          <a:p>
            <a:r>
              <a:rPr lang="en-US" dirty="0"/>
              <a:t>1</a:t>
            </a:r>
          </a:p>
        </p:txBody>
      </p:sp>
    </p:spTree>
    <p:extLst>
      <p:ext uri="{BB962C8B-B14F-4D97-AF65-F5344CB8AC3E}">
        <p14:creationId xmlns:p14="http://schemas.microsoft.com/office/powerpoint/2010/main" val="150127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txBox="1">
            <a:spLocks noGrp="1"/>
          </p:cNvSpPr>
          <p:nvPr>
            <p:ph type="title"/>
          </p:nvPr>
        </p:nvSpPr>
        <p:spPr>
          <a:xfrm>
            <a:off x="-409903" y="9886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Introduction</a:t>
            </a:r>
          </a:p>
        </p:txBody>
      </p:sp>
      <p:sp>
        <p:nvSpPr>
          <p:cNvPr id="59" name="Google Shape;59;p2"/>
          <p:cNvSpPr txBox="1">
            <a:spLocks noGrp="1"/>
          </p:cNvSpPr>
          <p:nvPr>
            <p:ph type="ftr" idx="11"/>
          </p:nvPr>
        </p:nvSpPr>
        <p:spPr>
          <a:xfrm>
            <a:off x="8818179" y="6821214"/>
            <a:ext cx="547863" cy="201576"/>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2</a:t>
            </a:r>
          </a:p>
        </p:txBody>
      </p:sp>
      <p:sp>
        <p:nvSpPr>
          <p:cNvPr id="100" name="ContentBox"/>
          <p:cNvSpPr txBox="1"/>
          <p:nvPr/>
        </p:nvSpPr>
        <p:spPr>
          <a:xfrm>
            <a:off x="387366" y="1604082"/>
            <a:ext cx="8800000" cy="2585323"/>
          </a:xfrm>
          <a:prstGeom prst="rect">
            <a:avLst/>
          </a:prstGeom>
          <a:noFill/>
          <a:ln>
            <a:noFill/>
          </a:ln>
        </p:spPr>
        <p:txBody>
          <a:bodyPr wrap="square" lIns="91440" tIns="45720" rIns="91440" bIns="45720" anchor="t">
            <a:spAutoFit/>
          </a:bodyPr>
          <a:lstStyle/>
          <a:p>
            <a:r>
              <a:rPr lang="en-US" sz="1800" dirty="0">
                <a:latin typeface="Times New Roman" panose="02020603050405020304" pitchFamily="18" charset="0"/>
                <a:cs typeface="Times New Roman" panose="02020603050405020304" pitchFamily="18" charset="0"/>
              </a:rPr>
              <a:t>School infrastructure plays a crucial role in determining the quality of education and student retention. While India has made significant progress in basic facilities such as drinking water and sanitation through initiatives like the Right to Education Act (2009) and Swachh Bharat Mission, there are still major gaps in learning environment infrastructure such as internet access, science laboratories, and co-curricular facilities.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Existing reports like UDISE+ provide data on infrastructure, but they do not compare India’s performance with global standards or analyze its impact on dropout rates. This study introduces an AI-based framework to address these gaps using data-driven insights.</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387625"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Problem Statement</a:t>
            </a:r>
          </a:p>
        </p:txBody>
      </p:sp>
      <p:sp>
        <p:nvSpPr>
          <p:cNvPr id="3" name="Footer"/>
          <p:cNvSpPr txBox="1">
            <a:spLocks noGrp="1"/>
          </p:cNvSpPr>
          <p:nvPr>
            <p:ph type="ftr" idx="11"/>
          </p:nvPr>
        </p:nvSpPr>
        <p:spPr>
          <a:xfrm flipH="1">
            <a:off x="8807669" y="6852746"/>
            <a:ext cx="622497"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a:t>10</a:t>
            </a:r>
          </a:p>
        </p:txBody>
      </p:sp>
      <p:sp>
        <p:nvSpPr>
          <p:cNvPr id="100" name="ContentBox"/>
          <p:cNvSpPr txBox="1"/>
          <p:nvPr/>
        </p:nvSpPr>
        <p:spPr>
          <a:xfrm>
            <a:off x="276876" y="1032103"/>
            <a:ext cx="8800000" cy="6037550"/>
          </a:xfrm>
          <a:prstGeom prst="rect">
            <a:avLst/>
          </a:prstGeom>
          <a:noFill/>
          <a:ln>
            <a:noFill/>
          </a:ln>
        </p:spPr>
        <p:txBody>
          <a:bodyPr wrap="square" lIns="91440" tIns="45720" rIns="91440" bIns="45720" anchor="t">
            <a:spAutoFit/>
          </a:bodyPr>
          <a:lstStyle/>
          <a:p>
            <a:pPr algn="l">
              <a:spcBef>
                <a:spcPts val="0"/>
              </a:spcBef>
            </a:pPr>
            <a:r>
              <a:rPr lang="en-US" sz="1800" b="1" dirty="0">
                <a:solidFill>
                  <a:srgbClr val="CC0000"/>
                </a:solidFill>
                <a:latin typeface="Times New Roman" panose="02020603050405020304" pitchFamily="18" charset="0"/>
                <a:cs typeface="Times New Roman" panose="02020603050405020304" pitchFamily="18" charset="0"/>
              </a:rPr>
              <a:t>Core Problem</a:t>
            </a:r>
          </a:p>
          <a:p>
            <a:pPr>
              <a:spcBef>
                <a:spcPts val="200"/>
              </a:spcBef>
            </a:pPr>
            <a:r>
              <a:rPr lang="en-US" sz="1800" dirty="0">
                <a:latin typeface="Times New Roman" panose="02020603050405020304" pitchFamily="18" charset="0"/>
                <a:cs typeface="Times New Roman" panose="02020603050405020304" pitchFamily="18" charset="0"/>
              </a:rPr>
              <a:t>India’s school infrastructure assessment lacks a standardized, data-driven framework that aligns with global benchmarks. Current evaluations rely on raw UDISE+ statistics without measuring the true infrastructure gap relative to high-performing countries. As a result, the gap function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Gap(</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s) = Benchmark(</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India_State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is not systematically applied to guide decision-making, and infrastructure planning remains disconnected from actual educational outcomes.</a:t>
            </a:r>
          </a:p>
          <a:p>
            <a:pPr>
              <a:spcBef>
                <a:spcPts val="200"/>
              </a:spcBef>
            </a:pPr>
            <a:r>
              <a:rPr lang="en-US" sz="1800" b="1" dirty="0">
                <a:solidFill>
                  <a:srgbClr val="CC0000"/>
                </a:solidFill>
                <a:latin typeface="Times New Roman" panose="02020603050405020304" pitchFamily="18" charset="0"/>
                <a:cs typeface="Times New Roman" panose="02020603050405020304" pitchFamily="18" charset="0"/>
              </a:rPr>
              <a:t>Resulting Failure Modes</a:t>
            </a: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Unprioritized Investments:</a:t>
            </a:r>
            <a:r>
              <a:rPr lang="en-US" sz="1800" dirty="0">
                <a:latin typeface="Times New Roman" panose="02020603050405020304" pitchFamily="18" charset="0"/>
                <a:cs typeface="Times New Roman" panose="02020603050405020304" pitchFamily="18" charset="0"/>
              </a:rPr>
              <a:t> Government policies focus heavily on sanitation (toilets, water), despite these already being near global standards, while critical learning infrastructure (labs, internet, co-curricular spaces) remains underdeveloped.</a:t>
            </a: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Lack of Outcome Linkage:</a:t>
            </a:r>
            <a:r>
              <a:rPr lang="en-US" sz="1800" dirty="0">
                <a:latin typeface="Times New Roman" panose="02020603050405020304" pitchFamily="18" charset="0"/>
                <a:cs typeface="Times New Roman" panose="02020603050405020304" pitchFamily="18" charset="0"/>
              </a:rPr>
              <a:t> Infrastructure deficiencies are not quantitatively linked to dropout rates, leading to decisions that are not evidence-based. </a:t>
            </a: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Budget Misallocation:</a:t>
            </a:r>
            <a:r>
              <a:rPr lang="en-US" sz="1800" dirty="0">
                <a:latin typeface="Times New Roman" panose="02020603050405020304" pitchFamily="18" charset="0"/>
                <a:cs typeface="Times New Roman" panose="02020603050405020304" pitchFamily="18" charset="0"/>
              </a:rPr>
              <a:t> Without a cost estimation model, investments are not optimized, and high-impact areas remain underfunded.</a:t>
            </a:r>
          </a:p>
          <a:p>
            <a:pPr algn="l">
              <a:spcBef>
                <a:spcPts val="400"/>
              </a:spcBef>
            </a:pPr>
            <a:r>
              <a:rPr lang="en-US" sz="1800" b="1" dirty="0">
                <a:solidFill>
                  <a:srgbClr val="CC0000"/>
                </a:solidFill>
                <a:latin typeface="Times New Roman" panose="02020603050405020304" pitchFamily="18" charset="0"/>
                <a:cs typeface="Times New Roman" panose="02020603050405020304" pitchFamily="18" charset="0"/>
              </a:rPr>
              <a:t>Research Question</a:t>
            </a:r>
          </a:p>
          <a:p>
            <a:pPr>
              <a:spcBef>
                <a:spcPts val="200"/>
              </a:spcBef>
            </a:pPr>
            <a:r>
              <a:rPr lang="en-US" sz="1800" dirty="0">
                <a:latin typeface="Times New Roman" panose="02020603050405020304" pitchFamily="18" charset="0"/>
                <a:cs typeface="Times New Roman" panose="02020603050405020304" pitchFamily="18" charset="0"/>
              </a:rPr>
              <a:t>Can an AI-driven framework that integrates global benchmarking, infrastructure gap analysis, and machine learning models (Regression + Clustering) accurately quantify the impact of infrastructure on dropout rates and provide optimized, state-wise investment strategies for improving school retention in India?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387625"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Objective</a:t>
            </a:r>
          </a:p>
        </p:txBody>
      </p:sp>
      <p:sp>
        <p:nvSpPr>
          <p:cNvPr id="3" name="Footer"/>
          <p:cNvSpPr txBox="1">
            <a:spLocks noGrp="1"/>
          </p:cNvSpPr>
          <p:nvPr>
            <p:ph type="ftr" idx="11"/>
          </p:nvPr>
        </p:nvSpPr>
        <p:spPr>
          <a:xfrm>
            <a:off x="8523890" y="6801811"/>
            <a:ext cx="663476"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4</a:t>
            </a:r>
          </a:p>
        </p:txBody>
      </p:sp>
      <p:sp>
        <p:nvSpPr>
          <p:cNvPr id="100" name="ContentBox"/>
          <p:cNvSpPr txBox="1"/>
          <p:nvPr/>
        </p:nvSpPr>
        <p:spPr>
          <a:xfrm>
            <a:off x="387366" y="1288772"/>
            <a:ext cx="8800000" cy="4247317"/>
          </a:xfrm>
          <a:prstGeom prst="rect">
            <a:avLst/>
          </a:prstGeom>
          <a:noFill/>
          <a:ln>
            <a:noFill/>
          </a:ln>
        </p:spPr>
        <p:txBody>
          <a:bodyPr wrap="square" lIns="91440" tIns="45720" rIns="91440" bIns="45720" anchor="t">
            <a:spAutoFit/>
          </a:bodyPr>
          <a:lstStyle/>
          <a:p>
            <a:r>
              <a:rPr lang="en-US" sz="1800" dirty="0">
                <a:latin typeface="Times New Roman" panose="02020603050405020304" pitchFamily="18" charset="0"/>
                <a:cs typeface="Times New Roman" panose="02020603050405020304" pitchFamily="18" charset="0"/>
              </a:rPr>
              <a:t>This study aims to:</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Perform a comparative analysis of India’s school infrastructure against global benchmarks using data from five model countries (Japan, USA, Finland, Germany, and China).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Quantify infrastructure gaps across 25 indicators for 36 states and union territories using a standardized gap formulation.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Identify and analyze key deficiencies in learning environment infrastructure, including digital access, science laboratories, and co-curricular facilities.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Establish a predictive relationship between infrastructure gaps and secondary-level dropout rates using machine learning models (Linear Regression and Random Forest).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Classify Indian states into distinct intervention tiers using K-means clustering based on their infrastructure profiles.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 a state-wise and indicator-wise cost estimation model to calculate the financial investment required to achieve global standards.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 empirical, data-driven insights to support policy prioritization and optimize infrastructure investment strategies in the education sector.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387625"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Literature Review</a:t>
            </a:r>
          </a:p>
        </p:txBody>
      </p:sp>
      <p:sp>
        <p:nvSpPr>
          <p:cNvPr id="3" name="Footer"/>
          <p:cNvSpPr txBox="1">
            <a:spLocks noGrp="1"/>
          </p:cNvSpPr>
          <p:nvPr>
            <p:ph type="ftr" idx="11"/>
          </p:nvPr>
        </p:nvSpPr>
        <p:spPr>
          <a:xfrm>
            <a:off x="8639502" y="6852745"/>
            <a:ext cx="547863"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5</a:t>
            </a:r>
          </a:p>
        </p:txBody>
      </p:sp>
      <p:sp>
        <p:nvSpPr>
          <p:cNvPr id="100" name="ContentBox"/>
          <p:cNvSpPr txBox="1"/>
          <p:nvPr/>
        </p:nvSpPr>
        <p:spPr>
          <a:xfrm>
            <a:off x="276876" y="1105823"/>
            <a:ext cx="8800000" cy="5670783"/>
          </a:xfrm>
          <a:prstGeom prst="rect">
            <a:avLst/>
          </a:prstGeom>
          <a:noFill/>
          <a:ln>
            <a:noFill/>
          </a:ln>
        </p:spPr>
        <p:txBody>
          <a:bodyPr wrap="square" lIns="91440" tIns="45720" rIns="91440" bIns="45720" anchor="t">
            <a:spAutoFit/>
          </a:bodyPr>
          <a:lstStyle/>
          <a:p>
            <a:r>
              <a:rPr lang="en-US" sz="1800" b="1" dirty="0">
                <a:solidFill>
                  <a:srgbClr val="C00000"/>
                </a:solidFill>
                <a:latin typeface="Times New Roman" panose="02020603050405020304" pitchFamily="18" charset="0"/>
                <a:cs typeface="Times New Roman" panose="02020603050405020304" pitchFamily="18" charset="0"/>
              </a:rPr>
              <a:t>School Infrastructure &amp; Learning Outcomes</a:t>
            </a:r>
          </a:p>
          <a:p>
            <a:pPr marL="285750" indent="-285750" algn="l">
              <a:spcBef>
                <a:spcPts val="0"/>
              </a:spcBef>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Barrett et al. [2019]: Comprehensive review of 129 studies showing that classroom environment, safety, and physical infrastructure significantly impact student learning and retention.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Nugroho &amp; Wibowo [2020]: Demonstrated that improved school facilities increase student engagement and participation, especially in developing country contexts.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Mahapatra &amp; </a:t>
            </a:r>
            <a:r>
              <a:rPr lang="en-US" sz="1800" dirty="0" err="1">
                <a:latin typeface="Times New Roman" panose="02020603050405020304" pitchFamily="18" charset="0"/>
                <a:cs typeface="Times New Roman" panose="02020603050405020304" pitchFamily="18" charset="0"/>
              </a:rPr>
              <a:t>Goowalla</a:t>
            </a:r>
            <a:r>
              <a:rPr lang="en-US" sz="1800" dirty="0">
                <a:latin typeface="Times New Roman" panose="02020603050405020304" pitchFamily="18" charset="0"/>
                <a:cs typeface="Times New Roman" panose="02020603050405020304" pitchFamily="18" charset="0"/>
              </a:rPr>
              <a:t> [2019]: Found disparities between government and private school infrastructure directly influence teaching effectiveness and learning quality.</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Octavia &amp; </a:t>
            </a:r>
            <a:r>
              <a:rPr lang="en-US" sz="1800" dirty="0" err="1">
                <a:latin typeface="Times New Roman" panose="02020603050405020304" pitchFamily="18" charset="0"/>
                <a:cs typeface="Times New Roman" panose="02020603050405020304" pitchFamily="18" charset="0"/>
              </a:rPr>
              <a:t>Ismiyati</a:t>
            </a:r>
            <a:r>
              <a:rPr lang="en-US" sz="1800" dirty="0">
                <a:latin typeface="Times New Roman" panose="02020603050405020304" pitchFamily="18" charset="0"/>
                <a:cs typeface="Times New Roman" panose="02020603050405020304" pitchFamily="18" charset="0"/>
              </a:rPr>
              <a:t> [2020]: Established a theoretical input-output relationship between infrastructure quality and institutional education outcomes.</a:t>
            </a:r>
          </a:p>
          <a:p>
            <a:pPr>
              <a:spcBef>
                <a:spcPts val="300"/>
              </a:spcBef>
            </a:pPr>
            <a:r>
              <a:rPr lang="en-US" sz="1800" b="1" dirty="0">
                <a:solidFill>
                  <a:srgbClr val="C00000"/>
                </a:solidFill>
                <a:latin typeface="Times New Roman" panose="02020603050405020304" pitchFamily="18" charset="0"/>
                <a:cs typeface="Times New Roman" panose="02020603050405020304" pitchFamily="18" charset="0"/>
              </a:rPr>
              <a:t>CAI &amp; Data-Driven Infrastructure Analysis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Vargas-Munoz et al. [2021]: Applied machine learning and satellite imagery to identify infrastructure deficiencies in developing regions, validating AI-based approaches in education infrastructure research.</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Global datasets (UNESCO UIS, OECD, World Bank): Provide standardized international benchmarks but are not integrated with predictive modeling or state-level analysis.</a:t>
            </a:r>
          </a:p>
          <a:p>
            <a:r>
              <a:rPr lang="en-US" sz="1800" b="1" dirty="0">
                <a:solidFill>
                  <a:srgbClr val="C00000"/>
                </a:solidFill>
                <a:latin typeface="Times New Roman" panose="02020603050405020304" pitchFamily="18" charset="0"/>
                <a:cs typeface="Times New Roman" panose="02020603050405020304" pitchFamily="18" charset="0"/>
              </a:rPr>
              <a:t>Indian Education Data Systems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UDISE+ (Ministry of Education, India): Provides comprehensive annual data on school infrastructure across all states, but limited to descriptive reporting without predictive or comparative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387625"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Methodology</a:t>
            </a:r>
          </a:p>
        </p:txBody>
      </p:sp>
      <p:sp>
        <p:nvSpPr>
          <p:cNvPr id="3" name="Footer"/>
          <p:cNvSpPr txBox="1">
            <a:spLocks noGrp="1"/>
          </p:cNvSpPr>
          <p:nvPr>
            <p:ph type="ftr" idx="11"/>
          </p:nvPr>
        </p:nvSpPr>
        <p:spPr>
          <a:xfrm>
            <a:off x="8450317" y="6717729"/>
            <a:ext cx="863173"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6</a:t>
            </a:r>
          </a:p>
        </p:txBody>
      </p:sp>
      <p:sp>
        <p:nvSpPr>
          <p:cNvPr id="4" name="TextBox 3">
            <a:extLst>
              <a:ext uri="{FF2B5EF4-FFF2-40B4-BE49-F238E27FC236}">
                <a16:creationId xmlns:a16="http://schemas.microsoft.com/office/drawing/2014/main" id="{FA45BDCA-741F-3047-AB50-58C43C2D86D7}"/>
              </a:ext>
            </a:extLst>
          </p:cNvPr>
          <p:cNvSpPr txBox="1"/>
          <p:nvPr/>
        </p:nvSpPr>
        <p:spPr>
          <a:xfrm>
            <a:off x="462578" y="1509657"/>
            <a:ext cx="7745506" cy="4185761"/>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study uses the UDISE+ 2024–25 dataset, which covers over 1.47 million schools across 36 states and union territories, along with global benchmark data from countries like Japan, USA, Finland, Germany, and China. Infrastructure gaps are calculated as the difference between global benchmark values and state-level values.</a:t>
            </a:r>
          </a:p>
          <a:p>
            <a:r>
              <a:rPr lang="en-US" sz="18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Two regression models—Linear Regression and Random Forest—are used to predict dropout rates based on 25 infrastructure indicators. K-means clustering is applied to group states into four categories based on their infrastructure profiles. </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Additionally, a cost estimation model is developed using unit costs and the number of schools to calculate the financial investment required to bridge these gaps.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EFCA1-16DF-0740-7971-1A1A258CE5A3}"/>
              </a:ext>
            </a:extLst>
          </p:cNvPr>
          <p:cNvSpPr>
            <a:spLocks noGrp="1"/>
          </p:cNvSpPr>
          <p:nvPr>
            <p:ph type="title"/>
          </p:nvPr>
        </p:nvSpPr>
        <p:spPr>
          <a:xfrm>
            <a:off x="105104" y="98867"/>
            <a:ext cx="5728137" cy="784002"/>
          </a:xfrm>
        </p:spPr>
        <p:txBody>
          <a:bodyPr/>
          <a:lstStyle/>
          <a:p>
            <a:r>
              <a:rPr lang="en-US" dirty="0"/>
              <a:t>Models Used &amp; Interpretation</a:t>
            </a:r>
          </a:p>
        </p:txBody>
      </p:sp>
      <p:sp>
        <p:nvSpPr>
          <p:cNvPr id="3" name="Text Placeholder 2">
            <a:extLst>
              <a:ext uri="{FF2B5EF4-FFF2-40B4-BE49-F238E27FC236}">
                <a16:creationId xmlns:a16="http://schemas.microsoft.com/office/drawing/2014/main" id="{E967870E-F07A-F302-514D-BDAA4DF9CD9E}"/>
              </a:ext>
            </a:extLst>
          </p:cNvPr>
          <p:cNvSpPr>
            <a:spLocks noGrp="1"/>
          </p:cNvSpPr>
          <p:nvPr>
            <p:ph type="body" idx="1"/>
          </p:nvPr>
        </p:nvSpPr>
        <p:spPr>
          <a:xfrm>
            <a:off x="428995" y="1289311"/>
            <a:ext cx="8410205" cy="3323987"/>
          </a:xfrm>
        </p:spPr>
        <p:txBody>
          <a:bodyPr/>
          <a:lstStyle/>
          <a:p>
            <a:pPr marL="571500" indent="-342900">
              <a:buFont typeface="Arial" panose="020B0604020202020204" pitchFamily="34" charset="0"/>
              <a:buChar char="•"/>
            </a:pPr>
            <a:r>
              <a:rPr lang="en-US" sz="1800" dirty="0"/>
              <a:t>The study employs multiple machine learning models to analyze and interpret the data. Linear Regression serves as a baseline model, providing a simple and interpretable relationship between infrastructure gaps and dropout rates.</a:t>
            </a:r>
          </a:p>
          <a:p>
            <a:pPr marL="228600" indent="0"/>
            <a:endParaRPr lang="en-US" sz="1800" dirty="0"/>
          </a:p>
          <a:p>
            <a:pPr marL="571500" indent="-342900">
              <a:buFont typeface="Arial" panose="020B0604020202020204" pitchFamily="34" charset="0"/>
              <a:buChar char="•"/>
            </a:pPr>
            <a:r>
              <a:rPr lang="en-US" sz="1800" dirty="0"/>
              <a:t>Random Forest, a more advanced model, captures complex and non-linear relationships while also identifying the most important features influencing dropout.</a:t>
            </a:r>
          </a:p>
          <a:p>
            <a:pPr marL="228600" indent="0"/>
            <a:r>
              <a:rPr lang="en-US" sz="1800" dirty="0"/>
              <a:t> </a:t>
            </a:r>
          </a:p>
          <a:p>
            <a:pPr marL="571500" indent="-342900">
              <a:buFont typeface="Arial" panose="020B0604020202020204" pitchFamily="34" charset="0"/>
              <a:buChar char="•"/>
            </a:pPr>
            <a:r>
              <a:rPr lang="en-US" sz="1800" dirty="0"/>
              <a:t>K-means clustering is used to group states into meaningful categories based on their infrastructure profiles, enabling targeted policy interventions.</a:t>
            </a:r>
          </a:p>
          <a:p>
            <a:pPr marL="228600" indent="0"/>
            <a:endParaRPr lang="en-US" sz="1800" dirty="0"/>
          </a:p>
          <a:p>
            <a:pPr marL="571500" indent="-342900">
              <a:buFont typeface="Arial" panose="020B0604020202020204" pitchFamily="34" charset="0"/>
              <a:buChar char="•"/>
            </a:pPr>
            <a:r>
              <a:rPr lang="en-US" sz="1800" dirty="0"/>
              <a:t>Together, these models demonstrate that infrastructure is a strong and reliable predictor of student dropout rates.</a:t>
            </a:r>
          </a:p>
        </p:txBody>
      </p:sp>
      <p:sp>
        <p:nvSpPr>
          <p:cNvPr id="4" name="Footer Placeholder 3">
            <a:extLst>
              <a:ext uri="{FF2B5EF4-FFF2-40B4-BE49-F238E27FC236}">
                <a16:creationId xmlns:a16="http://schemas.microsoft.com/office/drawing/2014/main" id="{C89F91EE-6F07-8746-0E53-FEB503346F2C}"/>
              </a:ext>
            </a:extLst>
          </p:cNvPr>
          <p:cNvSpPr>
            <a:spLocks noGrp="1"/>
          </p:cNvSpPr>
          <p:nvPr>
            <p:ph type="ftr" idx="11"/>
          </p:nvPr>
        </p:nvSpPr>
        <p:spPr>
          <a:xfrm>
            <a:off x="8366234" y="6779173"/>
            <a:ext cx="821132" cy="192360"/>
          </a:xfrm>
        </p:spPr>
        <p:txBody>
          <a:bodyPr/>
          <a:lstStyle/>
          <a:p>
            <a:r>
              <a:rPr lang="en-US" dirty="0"/>
              <a:t>7</a:t>
            </a:r>
          </a:p>
        </p:txBody>
      </p:sp>
    </p:spTree>
    <p:extLst>
      <p:ext uri="{BB962C8B-B14F-4D97-AF65-F5344CB8AC3E}">
        <p14:creationId xmlns:p14="http://schemas.microsoft.com/office/powerpoint/2010/main" val="3290622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482218"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Results &amp; Discussion</a:t>
            </a:r>
          </a:p>
        </p:txBody>
      </p:sp>
      <p:sp>
        <p:nvSpPr>
          <p:cNvPr id="3" name="Footer"/>
          <p:cNvSpPr txBox="1">
            <a:spLocks noGrp="1"/>
          </p:cNvSpPr>
          <p:nvPr>
            <p:ph type="ftr" idx="11"/>
          </p:nvPr>
        </p:nvSpPr>
        <p:spPr>
          <a:xfrm>
            <a:off x="8586952" y="6684580"/>
            <a:ext cx="768580"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8</a:t>
            </a:r>
          </a:p>
        </p:txBody>
      </p:sp>
      <p:sp>
        <p:nvSpPr>
          <p:cNvPr id="100" name="LeftStats"/>
          <p:cNvSpPr txBox="1"/>
          <p:nvPr/>
        </p:nvSpPr>
        <p:spPr>
          <a:xfrm>
            <a:off x="495641" y="1508199"/>
            <a:ext cx="8091311" cy="3693319"/>
          </a:xfrm>
          <a:prstGeom prst="rect">
            <a:avLst/>
          </a:prstGeom>
          <a:noFill/>
          <a:ln>
            <a:noFill/>
          </a:ln>
        </p:spPr>
        <p:txBody>
          <a:bodyPr wrap="square" lIns="91440" tIns="45720" rIns="91440" bIns="45720" anchor="t">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analysis reveals that while India performs well in basic infrastructure such as drinking water and sanitation, it lags significantly in learning environment indicators like internet access, science laboratories, and co-curricular facilities.</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predictive models show strong performance, with an R² value of 0.893, indicating that nearly 89% of the variation in dropout rates can be explained by infrastructure gaps alone. Feature importance analysis highlights that co-curricular facilities, internet access, and science labs are the most influential factors affecting dropout rates. </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K-means clustering categorizes states into four tiers—Critical, Developing, Moderate, and Advanced—helping identify regions that require urgent intervention.</a:t>
            </a:r>
            <a:endParaRPr lang="en-US" sz="1400" b="1" dirty="0">
              <a:solidFill>
                <a:srgbClr val="22772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Title"/>
          <p:cNvSpPr txBox="1">
            <a:spLocks noGrp="1"/>
          </p:cNvSpPr>
          <p:nvPr>
            <p:ph type="title"/>
          </p:nvPr>
        </p:nvSpPr>
        <p:spPr>
          <a:xfrm>
            <a:off x="-482218" y="109377"/>
            <a:ext cx="5889474" cy="537306"/>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None/>
            </a:pPr>
            <a:r>
              <a:rPr lang="en-US" dirty="0"/>
              <a:t>Conclusion &amp; Future Work</a:t>
            </a:r>
          </a:p>
        </p:txBody>
      </p:sp>
      <p:sp>
        <p:nvSpPr>
          <p:cNvPr id="3" name="Footer"/>
          <p:cNvSpPr txBox="1">
            <a:spLocks noGrp="1"/>
          </p:cNvSpPr>
          <p:nvPr>
            <p:ph type="ftr" idx="11"/>
          </p:nvPr>
        </p:nvSpPr>
        <p:spPr>
          <a:xfrm>
            <a:off x="8660524" y="6547945"/>
            <a:ext cx="220717" cy="200691"/>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None/>
            </a:pPr>
            <a:r>
              <a:rPr lang="en-US" dirty="0"/>
              <a:t>9</a:t>
            </a:r>
          </a:p>
        </p:txBody>
      </p:sp>
      <p:sp>
        <p:nvSpPr>
          <p:cNvPr id="100" name="Left"/>
          <p:cNvSpPr txBox="1"/>
          <p:nvPr/>
        </p:nvSpPr>
        <p:spPr>
          <a:xfrm>
            <a:off x="421601" y="1284498"/>
            <a:ext cx="8459640" cy="3970318"/>
          </a:xfrm>
          <a:prstGeom prst="rect">
            <a:avLst/>
          </a:prstGeom>
          <a:noFill/>
          <a:ln>
            <a:noFill/>
          </a:ln>
        </p:spPr>
        <p:txBody>
          <a:bodyPr wrap="square" lIns="91440" tIns="45720" rIns="91440" bIns="45720" anchor="t">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study concludes that infrastructure gaps play a significant role in influencing student dropout rates in India, with learning environment factors being more critical than basic sanitation. </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An estimated investment of ₹3.72 lakh crore is required to bring India’s school infrastructure to global standards, with the largest investments needed in co-curricular facilities and science laboratories. </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proposed AI-based framework provides a scalable and reusable tool for policymakers to make informed decisions. </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Future work can extend this analysis by incorporating socioeconomic factors, expanding to primary education, and updating the model annually with new UDISE+ data.</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FB9D-9848-4C50-6848-39EFEED7F6B5}"/>
              </a:ext>
            </a:extLst>
          </p:cNvPr>
          <p:cNvSpPr>
            <a:spLocks noGrp="1"/>
          </p:cNvSpPr>
          <p:nvPr>
            <p:ph type="title"/>
          </p:nvPr>
        </p:nvSpPr>
        <p:spPr>
          <a:xfrm>
            <a:off x="135244" y="140908"/>
            <a:ext cx="3569335" cy="523220"/>
          </a:xfrm>
        </p:spPr>
        <p:txBody>
          <a:bodyPr/>
          <a:lstStyle/>
          <a:p>
            <a:r>
              <a:rPr lang="en-US" dirty="0"/>
              <a:t>References</a:t>
            </a:r>
          </a:p>
        </p:txBody>
      </p:sp>
      <p:sp>
        <p:nvSpPr>
          <p:cNvPr id="3" name="Text Placeholder 2">
            <a:extLst>
              <a:ext uri="{FF2B5EF4-FFF2-40B4-BE49-F238E27FC236}">
                <a16:creationId xmlns:a16="http://schemas.microsoft.com/office/drawing/2014/main" id="{E367E25F-B43D-6D64-D2D9-32D1E4EB91B3}"/>
              </a:ext>
            </a:extLst>
          </p:cNvPr>
          <p:cNvSpPr>
            <a:spLocks noGrp="1"/>
          </p:cNvSpPr>
          <p:nvPr>
            <p:ph type="body" idx="1"/>
          </p:nvPr>
        </p:nvSpPr>
        <p:spPr>
          <a:xfrm>
            <a:off x="0" y="1280026"/>
            <a:ext cx="8952230" cy="4755148"/>
          </a:xfrm>
        </p:spPr>
        <p:txBody>
          <a:bodyPr/>
          <a:lstStyle/>
          <a:p>
            <a:pPr marL="571500" lvl="0" indent="-342900">
              <a:buFont typeface="Arial" panose="020B0604020202020204" pitchFamily="34" charset="0"/>
              <a:buChar char="•"/>
            </a:pPr>
            <a:r>
              <a:rPr lang="en-US" sz="1800" dirty="0"/>
              <a:t>P. Barrett, A. Treves, T. </a:t>
            </a:r>
            <a:r>
              <a:rPr lang="en-US" sz="1800" dirty="0" err="1"/>
              <a:t>Shmis</a:t>
            </a:r>
            <a:r>
              <a:rPr lang="en-US" sz="1800" dirty="0"/>
              <a:t> and D. </a:t>
            </a:r>
            <a:r>
              <a:rPr lang="en-US" sz="1800" dirty="0" err="1"/>
              <a:t>Ambasz</a:t>
            </a:r>
            <a:r>
              <a:rPr lang="en-US" sz="1800" dirty="0"/>
              <a:t>, </a:t>
            </a:r>
            <a:r>
              <a:rPr lang="en-US" sz="1800" i="1" dirty="0"/>
              <a:t>The Effect of School Infrastructure on Learning: A Synthesis of the Evidence</a:t>
            </a:r>
            <a:r>
              <a:rPr lang="en-US" sz="1800" dirty="0"/>
              <a:t>, World Bank Group, Washington, DC, 2019.</a:t>
            </a:r>
          </a:p>
          <a:p>
            <a:pPr marL="228600" lvl="0" indent="0"/>
            <a:endParaRPr lang="en-US" sz="1800" dirty="0"/>
          </a:p>
          <a:p>
            <a:pPr marL="571500" lvl="0" indent="-342900">
              <a:buFont typeface="Arial" panose="020B0604020202020204" pitchFamily="34" charset="0"/>
              <a:buChar char="•"/>
            </a:pPr>
            <a:r>
              <a:rPr lang="en-US" sz="1800" dirty="0"/>
              <a:t>A. A. Nugroho and U. B. Wibowo, The Influence of School Infrastructure on Student Learning Activeness, Atlantis Press, 2020.</a:t>
            </a:r>
          </a:p>
          <a:p>
            <a:pPr marL="228600" lvl="0" indent="0"/>
            <a:endParaRPr lang="en-US" sz="1800" dirty="0"/>
          </a:p>
          <a:p>
            <a:pPr marL="571500" lvl="0" indent="-342900">
              <a:buFont typeface="Arial" panose="020B0604020202020204" pitchFamily="34" charset="0"/>
              <a:buChar char="•"/>
            </a:pPr>
            <a:r>
              <a:rPr lang="en-US" sz="1800" dirty="0"/>
              <a:t>S. K. Mahapatra and H. </a:t>
            </a:r>
            <a:r>
              <a:rPr lang="en-US" sz="1800" dirty="0" err="1"/>
              <a:t>Goowalla</a:t>
            </a:r>
            <a:r>
              <a:rPr lang="en-US" sz="1800" dirty="0"/>
              <a:t>, A Study on Educational Infrastructure Facilities being provided by Government and non-Government schools in Nagaland, </a:t>
            </a:r>
            <a:r>
              <a:rPr lang="en-US" sz="1800" i="1" dirty="0"/>
              <a:t>International Journal of Education and Research</a:t>
            </a:r>
            <a:r>
              <a:rPr lang="en-US" sz="1800" dirty="0"/>
              <a:t>, 2019.</a:t>
            </a:r>
          </a:p>
          <a:p>
            <a:pPr marL="228600" lvl="0" indent="0"/>
            <a:endParaRPr lang="en-US" sz="1800" dirty="0"/>
          </a:p>
          <a:p>
            <a:pPr marL="571500" lvl="0" indent="-342900">
              <a:buFont typeface="Arial" panose="020B0604020202020204" pitchFamily="34" charset="0"/>
              <a:buChar char="•"/>
            </a:pPr>
            <a:r>
              <a:rPr lang="en-US" sz="1800" dirty="0"/>
              <a:t>E. T. Octavia and </a:t>
            </a:r>
            <a:r>
              <a:rPr lang="en-US" sz="1800" dirty="0" err="1"/>
              <a:t>Ismiyati</a:t>
            </a:r>
            <a:r>
              <a:rPr lang="en-US" sz="1800" dirty="0"/>
              <a:t>, How Do School Facilities Affect School Quality? </a:t>
            </a:r>
            <a:r>
              <a:rPr lang="en-US" sz="1800" i="1" dirty="0"/>
              <a:t>Journal of Educational Management Studies</a:t>
            </a:r>
            <a:r>
              <a:rPr lang="en-US" sz="1800" dirty="0"/>
              <a:t>, 2020.</a:t>
            </a:r>
          </a:p>
          <a:p>
            <a:pPr marL="228600" lvl="0" indent="0"/>
            <a:endParaRPr lang="en-US" sz="1800" dirty="0"/>
          </a:p>
          <a:p>
            <a:pPr marL="571500" lvl="0" indent="-342900">
              <a:buFont typeface="Arial" panose="020B0604020202020204" pitchFamily="34" charset="0"/>
              <a:buChar char="•"/>
            </a:pPr>
            <a:r>
              <a:rPr lang="en-US" sz="1800" dirty="0"/>
              <a:t>J. E. Vargas-Munoz et al., A Multi-tiered Human-in-the-loop Approach to Interactive School Mapping with Earth Observation and Machine Learning, </a:t>
            </a:r>
            <a:r>
              <a:rPr lang="en-US" sz="1800" i="1" dirty="0"/>
              <a:t>Remote Sensing</a:t>
            </a:r>
            <a:r>
              <a:rPr lang="en-US" sz="1800" dirty="0"/>
              <a:t>, vol. 13, no. 3, 2021.</a:t>
            </a:r>
          </a:p>
          <a:p>
            <a:endParaRPr lang="en-US" dirty="0"/>
          </a:p>
        </p:txBody>
      </p:sp>
      <p:sp>
        <p:nvSpPr>
          <p:cNvPr id="4" name="Footer Placeholder 3">
            <a:extLst>
              <a:ext uri="{FF2B5EF4-FFF2-40B4-BE49-F238E27FC236}">
                <a16:creationId xmlns:a16="http://schemas.microsoft.com/office/drawing/2014/main" id="{122D7FD4-F9F7-8A60-7643-DAA327BCFF0D}"/>
              </a:ext>
            </a:extLst>
          </p:cNvPr>
          <p:cNvSpPr>
            <a:spLocks noGrp="1"/>
          </p:cNvSpPr>
          <p:nvPr>
            <p:ph type="ftr" idx="11"/>
          </p:nvPr>
        </p:nvSpPr>
        <p:spPr>
          <a:xfrm>
            <a:off x="8952230" y="6779173"/>
            <a:ext cx="547863" cy="192360"/>
          </a:xfrm>
        </p:spPr>
        <p:txBody>
          <a:bodyPr/>
          <a:lstStyle/>
          <a:p>
            <a:r>
              <a:rPr lang="en-US" dirty="0"/>
              <a:t>10</a:t>
            </a:r>
          </a:p>
        </p:txBody>
      </p:sp>
    </p:spTree>
    <p:extLst>
      <p:ext uri="{BB962C8B-B14F-4D97-AF65-F5344CB8AC3E}">
        <p14:creationId xmlns:p14="http://schemas.microsoft.com/office/powerpoint/2010/main" val="3880595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title"/>
          </p:nvPr>
        </p:nvSpPr>
        <p:spPr>
          <a:xfrm>
            <a:off x="3137882" y="2901732"/>
            <a:ext cx="3644900" cy="2006939"/>
          </a:xfrm>
          <a:prstGeom prst="rect">
            <a:avLst/>
          </a:prstGeom>
          <a:noFill/>
          <a:ln>
            <a:noFill/>
          </a:ln>
        </p:spPr>
        <p:txBody>
          <a:bodyPr spcFirstLastPara="1" wrap="square" lIns="0" tIns="13950" rIns="0" bIns="0" anchor="t" anchorCtr="0">
            <a:spAutoFit/>
          </a:bodyPr>
          <a:lstStyle/>
          <a:p>
            <a:pPr marL="12700" lvl="0"/>
            <a:r>
              <a:rPr lang="en-US" sz="5750" dirty="0"/>
              <a:t>Thank You</a:t>
            </a:r>
            <a:br>
              <a:rPr lang="en-US" sz="2000" dirty="0"/>
            </a:br>
            <a:r>
              <a:rPr lang="en-US" sz="1600" dirty="0"/>
              <a:t>Sahil Sikri </a:t>
            </a:r>
            <a:r>
              <a:rPr lang="en-US" sz="1600" b="0" dirty="0"/>
              <a:t>• </a:t>
            </a:r>
            <a:r>
              <a:rPr lang="en-US" sz="1600" dirty="0"/>
              <a:t>Aarush Arora </a:t>
            </a:r>
            <a:r>
              <a:rPr lang="en-US" sz="1600" b="0" dirty="0"/>
              <a:t>• </a:t>
            </a:r>
            <a:r>
              <a:rPr lang="en-US" sz="1600" dirty="0"/>
              <a:t>Yukti </a:t>
            </a:r>
            <a:r>
              <a:rPr lang="en-US" sz="1400" dirty="0"/>
              <a:t>• </a:t>
            </a:r>
            <a:r>
              <a:rPr lang="en-US" sz="1600" dirty="0"/>
              <a:t>Abhinandan Jain </a:t>
            </a:r>
            <a:br>
              <a:rPr lang="en-US" sz="1400" dirty="0"/>
            </a:br>
            <a:r>
              <a:rPr lang="en-US" sz="1400" b="0" dirty="0"/>
              <a:t>Dept. of Computer Science &amp; Engineering, Chitkara University, Punjab</a:t>
            </a:r>
            <a:br>
              <a:rPr lang="en-US" sz="1200" dirty="0"/>
            </a:br>
            <a:r>
              <a:rPr lang="en-US" sz="1200" b="0" dirty="0"/>
              <a:t>Supervised by: Dr. Preeti Saini &amp; Dr. Gurpreet Singh</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yritsolution</Template>
  <TotalTime>119</TotalTime>
  <Words>1424</Words>
  <Application>Microsoft Office PowerPoint</Application>
  <PresentationFormat>Custom</PresentationFormat>
  <Paragraphs>114</Paragraphs>
  <Slides>12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Trebuchet MS</vt:lpstr>
      <vt:lpstr>Office Theme</vt:lpstr>
      <vt:lpstr>PowerPoint Presentation</vt:lpstr>
      <vt:lpstr>Table of Content</vt:lpstr>
      <vt:lpstr>Introduction</vt:lpstr>
      <vt:lpstr>Problem Statement</vt:lpstr>
      <vt:lpstr>Objective</vt:lpstr>
      <vt:lpstr>Literature Review</vt:lpstr>
      <vt:lpstr>Methodology</vt:lpstr>
      <vt:lpstr>Models Used &amp; Interpretation</vt:lpstr>
      <vt:lpstr>Results &amp; Discussion</vt:lpstr>
      <vt:lpstr>Conclusion &amp; Future Work</vt:lpstr>
      <vt:lpstr>References</vt:lpstr>
      <vt:lpstr>Thank You Sahil Sikri • Aarush Arora • Yukti • Abhinandan Jain  Dept. of Computer Science &amp; Engineering, Chitkara University, Punjab Supervised by: Dr. Preeti Saini &amp; Dr. Gurpreet Singh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nakul JAIN</dc:creator>
  <cp:lastModifiedBy>Yukti Batra</cp:lastModifiedBy>
  <cp:revision>12</cp:revision>
  <dcterms:created xsi:type="dcterms:W3CDTF">2026-03-24T19:17:42Z</dcterms:created>
  <dcterms:modified xsi:type="dcterms:W3CDTF">2026-04-30T08:13:50Z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2024-08-03T00:00:00Z</vt:filetime>
  </property>
  <property fmtid="{D5CDD505-2E9C-101B-9397-08002B2CF9AE}" pid="3" name="Creator">
    <vt:lpwstr>Canva</vt:lpwstr>
  </property>
  <property fmtid="{D5CDD505-2E9C-101B-9397-08002B2CF9AE}" pid="4" name="LastSaved">
    <vt:filetime>2024-10-02T00:00:00Z</vt:filetime>
  </property>
  <property fmtid="{D5CDD505-2E9C-101B-9397-08002B2CF9AE}" pid="5" name="Producer">
    <vt:lpwstr>Canva</vt:lpwstr>
  </property>
</Properties>
</file>